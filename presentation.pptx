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" cy="36576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0"/>
              </a:spcAft>
            </a:pPr>
            <a:r>
              <a:rPr sz="2200" b="0">
                <a:solidFill>
                  <a:srgbClr val="D0D8E8"/>
                </a:solidFill>
              </a:rPr>
              <a:t>수치해석 기말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7"/>
              </a:spcAft>
            </a:pPr>
            <a:r>
              <a:rPr sz="3600" b="1">
                <a:solidFill>
                  <a:srgbClr val="FFFFFF"/>
                </a:solidFill>
              </a:rPr>
              <a:t>3D LiDAR 포인트 클라우드에서
RANSAC + 최소제곱법을 이용한
바닥 평면 탐지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10058400" cy="36576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7"/>
              </a:spcAft>
            </a:pPr>
            <a:r>
              <a:rPr sz="1600" b="0">
                <a:solidFill>
                  <a:srgbClr val="D0D8E8"/>
                </a:solidFill>
              </a:rPr>
              <a:t>청주대학교  ·  수치해석  ·  2025년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5"/>
              </a:spcAft>
            </a:pPr>
            <a:r>
              <a:rPr sz="3200" b="1">
                <a:solidFill>
                  <a:srgbClr val="FFFFFF"/>
                </a:solidFill>
              </a:rPr>
              <a:t>목  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02920" cy="65836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344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8"/>
              </a:spcAft>
            </a:pPr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28016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8"/>
              </a:spcAft>
            </a:pPr>
            <a:r>
              <a:rPr sz="1800" b="1">
                <a:solidFill>
                  <a:srgbClr val="FFFFFF"/>
                </a:solidFill>
              </a:rPr>
              <a:t>연구 배경 및 목적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왜 바닥 탐지가 어려운가?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21408"/>
            <a:ext cx="502920" cy="65836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22311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8"/>
              </a:spcAft>
            </a:pPr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1671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8"/>
              </a:spcAft>
            </a:pPr>
            <a:r>
              <a:rPr sz="1800" b="1">
                <a:solidFill>
                  <a:srgbClr val="FFFFFF"/>
                </a:solidFill>
              </a:rPr>
              <a:t>수업 내용 → 3D 확장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1D 직선 피팅 → 3D 평면 피팅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08376"/>
            <a:ext cx="502920" cy="65836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31181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8"/>
              </a:spcAft>
            </a:pPr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054096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8"/>
              </a:spcAft>
            </a:pPr>
            <a:r>
              <a:rPr sz="1800" b="1">
                <a:solidFill>
                  <a:srgbClr val="FFFFFF"/>
                </a:solidFill>
              </a:rPr>
              <a:t>알고리즘 구성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RANSAC + 최소제곱법 (정규방정식)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5344"/>
            <a:ext cx="502920" cy="65836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4005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8"/>
              </a:spcAft>
            </a:pPr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41063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8"/>
              </a:spcAft>
            </a:pPr>
            <a:r>
              <a:rPr sz="1800" b="1">
                <a:solidFill>
                  <a:srgbClr val="FFFFFF"/>
                </a:solidFill>
              </a:rPr>
              <a:t>실험 환경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Gazebo 시뮬레이션 + Livox Mid-360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82312"/>
            <a:ext cx="502920" cy="65836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8"/>
              </a:spcAft>
            </a:pPr>
            <a:r>
              <a:rPr sz="1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828032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8"/>
              </a:spcAft>
            </a:pPr>
            <a:r>
              <a:rPr sz="1800" b="1">
                <a:solidFill>
                  <a:srgbClr val="FFFFFF"/>
                </a:solidFill>
              </a:rPr>
              <a:t>시연 및 결과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RViz 시각화 · 지표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669279"/>
            <a:ext cx="502920" cy="65836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577900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8"/>
              </a:spcAft>
            </a:pPr>
            <a:r>
              <a:rPr sz="18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714999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8"/>
              </a:spcAft>
            </a:pPr>
            <a:r>
              <a:rPr sz="1800" b="1">
                <a:solidFill>
                  <a:srgbClr val="FFFFFF"/>
                </a:solidFill>
              </a:rPr>
              <a:t>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93"/>
              </a:spcAft>
            </a:pPr>
            <a:r>
              <a:rPr sz="2800" b="1">
                <a:solidFill>
                  <a:srgbClr val="FFFFFF"/>
                </a:solidFill>
              </a:rPr>
              <a:t>01  연구 배경 및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7"/>
              </a:spcAft>
            </a:pPr>
            <a:r>
              <a:rPr sz="1600" b="1">
                <a:solidFill>
                  <a:srgbClr val="FFD700"/>
                </a:solidFill>
              </a:rPr>
              <a:t>문제 상황</a:t>
            </a:r>
          </a:p>
          <a:p>
            <a:pPr algn="l">
              <a:spcAft>
                <a:spcPts val="62"/>
              </a:spcAft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LiDAR(레이저 거리 센서)가 공간을 스캔하면</a:t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바닥, 벽, 상자 등이 모두 섞인</a:t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"포인트 클라우드"가 생성됩니다.</a:t>
            </a:r>
          </a:p>
          <a:p>
            <a:pPr algn="l">
              <a:spcAft>
                <a:spcPts val="62"/>
              </a:spcAft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이 중에서 바닥 포인트만 골라</a:t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평면을 정확히 탐지하는 것이 목표입니다.</a:t>
            </a:r>
          </a:p>
          <a:p>
            <a:pPr algn="l">
              <a:spcAft>
                <a:spcPts val="62"/>
              </a:spcAft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67"/>
              </a:spcAft>
            </a:pPr>
            <a:r>
              <a:rPr sz="1600" b="1">
                <a:solidFill>
                  <a:srgbClr val="FFD700"/>
                </a:solidFill>
              </a:rPr>
              <a:t>평가 기준</a:t>
            </a:r>
          </a:p>
          <a:p>
            <a:pPr algn="l">
              <a:spcAft>
                <a:spcPts val="62"/>
              </a:spcAft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D0D8E8"/>
                </a:solidFill>
              </a:rPr>
              <a:t>• 각도 오차 (Angle Error)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탐지 평면이 수평(0°)에서 얼마나 틀어졌는가</a:t>
            </a:r>
          </a:p>
          <a:p>
            <a:pPr algn="l">
              <a:spcAft>
                <a:spcPts val="62"/>
              </a:spcAft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D0D8E8"/>
                </a:solidFill>
              </a:rPr>
              <a:t>• RMSE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바닥 포인트들이 탐지 평면에서 평균적으로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얼마나 떨어져 있는가</a:t>
            </a:r>
          </a:p>
          <a:p>
            <a:pPr algn="l">
              <a:spcAft>
                <a:spcPts val="62"/>
              </a:spcAft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D0D8E8"/>
                </a:solidFill>
              </a:rPr>
              <a:t>• 인라이어 비율 (IR)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전체 포인트 중 바닥으로 분류된 비율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188720"/>
            <a:ext cx="5120640" cy="5029200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3716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7"/>
              </a:spcAft>
            </a:pPr>
            <a:r>
              <a:rPr sz="1600" b="1">
                <a:solidFill>
                  <a:srgbClr val="FFD700"/>
                </a:solidFill>
              </a:rPr>
              <a:t>왜 어려운가?</a:t>
            </a:r>
          </a:p>
          <a:p>
            <a:pPr algn="l">
              <a:spcAft>
                <a:spcPts val="62"/>
              </a:spcAft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1">
                <a:solidFill>
                  <a:srgbClr val="FFFFFF"/>
                </a:solidFill>
              </a:rPr>
              <a:t>❌  단순 LS 적용 시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 벽/박스 포인트가 평면을 위로 끌어올림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 → 바닥 평면이 기울어짐</a:t>
            </a:r>
          </a:p>
          <a:p>
            <a:pPr algn="l">
              <a:spcAft>
                <a:spcPts val="62"/>
              </a:spcAft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1">
                <a:solidFill>
                  <a:srgbClr val="FFFFFF"/>
                </a:solidFill>
              </a:rPr>
              <a:t>✅  RANSAC + LS 적용 시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 아웃라이어 제거 후 바닥만 선별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 → 정확한 수평 평면 탐지</a:t>
            </a:r>
          </a:p>
          <a:p>
            <a:pPr algn="l">
              <a:spcAft>
                <a:spcPts val="62"/>
              </a:spcAft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67"/>
              </a:spcAft>
            </a:pPr>
            <a:r>
              <a:rPr sz="1600" b="1">
                <a:solidFill>
                  <a:srgbClr val="FFD700"/>
                </a:solidFill>
              </a:rPr>
              <a:t>실험 환경 (Gazebo)</a:t>
            </a:r>
          </a:p>
          <a:p>
            <a:pPr algn="l">
              <a:spcAft>
                <a:spcPts val="62"/>
              </a:spcAft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바닥 50×50m  +  외벽 4개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L자 벽  +  박스 2개  +  기둥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경사판(15°)</a:t>
            </a:r>
          </a:p>
          <a:p>
            <a:pPr algn="l">
              <a:spcAft>
                <a:spcPts val="62"/>
              </a:spcAft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  → 전체 포인트의 ~50%가 아웃라이어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93"/>
              </a:spcAft>
            </a:pPr>
            <a:r>
              <a:rPr sz="2800" b="1">
                <a:solidFill>
                  <a:srgbClr val="FFFFFF"/>
                </a:solidFill>
              </a:rPr>
              <a:t>02  수업 내용 → 3D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303520" cy="5120640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7"/>
              </a:spcAft>
            </a:pPr>
            <a:r>
              <a:rPr sz="1500" b="1">
                <a:solidFill>
                  <a:srgbClr val="FFD700"/>
                </a:solidFill>
              </a:rPr>
              <a:t>수업에서 배운 것  (1D 직선 피팅)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모델:   y = a₀ + a₁x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목적:   Sr = Σ(yᵢ - a₀ - a₁xᵢ)²  최소화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풀이:   ∂Sr/∂a₀ = 0</a:t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        ∂Sr/∂a₁ = 0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1">
                <a:solidFill>
                  <a:srgbClr val="FFFFFF"/>
                </a:solidFill>
              </a:rPr>
              <a:t>정규방정식 (2×2):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25"/>
              </a:spcAft>
            </a:pPr>
            <a:r>
              <a:rPr sz="1200" b="0">
                <a:solidFill>
                  <a:srgbClr val="FFFFFF"/>
                </a:solidFill>
              </a:rPr>
              <a:t>  ⎡  n    Σxᵢ  ⎤ ⎡a₀⎤   ⎡ Σyᵢ  ⎤</a:t>
            </a:r>
          </a:p>
          <a:p>
            <a:pPr algn="l">
              <a:spcAft>
                <a:spcPts val="125"/>
              </a:spcAft>
            </a:pPr>
            <a:r>
              <a:rPr sz="1200" b="0">
                <a:solidFill>
                  <a:srgbClr val="FFFFFF"/>
                </a:solidFill>
              </a:rPr>
              <a:t>  ⎢             ⎥ ⎢  ⎥ = ⎢      ⎥</a:t>
            </a:r>
          </a:p>
          <a:p>
            <a:pPr algn="l">
              <a:spcAft>
                <a:spcPts val="125"/>
              </a:spcAft>
            </a:pPr>
            <a:r>
              <a:rPr sz="1200" b="0">
                <a:solidFill>
                  <a:srgbClr val="FFFFFF"/>
                </a:solidFill>
              </a:rPr>
              <a:t>  ⎣ Σxᵢ  Σxᵢ² ⎦ ⎣a₁⎦   ⎣ Σxᵢyᵢ⎦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미지수 2개 (a₀, a₁)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32918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5"/>
              </a:spcAft>
            </a:pPr>
            <a:r>
              <a:rPr sz="3200" b="1">
                <a:solidFill>
                  <a:srgbClr val="0F3C96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143000"/>
            <a:ext cx="5303520" cy="5120640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7"/>
              </a:spcAft>
            </a:pPr>
            <a:r>
              <a:rPr sz="1500" b="1">
                <a:solidFill>
                  <a:srgbClr val="FF6B35"/>
                </a:solidFill>
              </a:rPr>
              <a:t>프로젝트에서 사용  (3D 평면 피팅)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모델:   z = a₀ + a₁x + a₂y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목적:   Sr = Σ(zᵢ - a₀ - a₁xᵢ - a₂yᵢ)²  최소화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풀이:   ∂Sr/∂a₀ = 0</a:t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        ∂Sr/∂a₁ = 0      (변수 하나 추가)</a:t>
            </a:r>
          </a:p>
          <a:p>
            <a:pPr algn="l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        ∂Sr/∂a₂ = 0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46"/>
              </a:spcAft>
            </a:pPr>
            <a:r>
              <a:rPr sz="1400" b="1">
                <a:solidFill>
                  <a:srgbClr val="FFFFFF"/>
                </a:solidFill>
              </a:rPr>
              <a:t>정규방정식 (3×3):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25"/>
              </a:spcAft>
            </a:pPr>
            <a:r>
              <a:rPr sz="1200" b="0">
                <a:solidFill>
                  <a:srgbClr val="FFFFFF"/>
                </a:solidFill>
              </a:rPr>
              <a:t>  ⎡  n    Σxᵢ   Σyᵢ  ⎤ ⎡a₀⎤   ⎡  Σzᵢ  ⎤</a:t>
            </a:r>
          </a:p>
          <a:p>
            <a:pPr algn="l">
              <a:spcAft>
                <a:spcPts val="125"/>
              </a:spcAft>
            </a:pPr>
            <a:r>
              <a:rPr sz="1200" b="0">
                <a:solidFill>
                  <a:srgbClr val="FFFFFF"/>
                </a:solidFill>
              </a:rPr>
              <a:t>  ⎢ Σxᵢ  Σxᵢ²  Σxᵢyᵢ⎥ ⎢a₁⎥ = ⎢ Σxᵢzᵢ ⎥</a:t>
            </a:r>
          </a:p>
          <a:p>
            <a:pPr algn="l">
              <a:spcAft>
                <a:spcPts val="125"/>
              </a:spcAft>
            </a:pPr>
            <a:r>
              <a:rPr sz="1200" b="0">
                <a:solidFill>
                  <a:srgbClr val="FFFFFF"/>
                </a:solidFill>
              </a:rPr>
              <a:t>  ⎣ Σyᵢ  Σxᵢyᵢ Σyᵢ² ⎦ ⎣a₂⎦   ⎣ Σyᵢzᵢ ⎦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미지수 3개 (a₀, a₁, a₂)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355080"/>
            <a:ext cx="11430000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6"/>
              </a:spcAft>
            </a:pPr>
            <a:r>
              <a:rPr sz="1300" b="1">
                <a:solidFill>
                  <a:srgbClr val="FFFFFF"/>
                </a:solidFill>
              </a:rPr>
              <a:t>핵심: 변수가 x 하나 → x, y 둘로 늘었을 뿐, 구조(Sr 편미분 → 정규방정식 → 행렬 풀기)는 동일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93"/>
              </a:spcAft>
            </a:pPr>
            <a:r>
              <a:rPr sz="2800" b="1">
                <a:solidFill>
                  <a:srgbClr val="FFFFFF"/>
                </a:solidFill>
              </a:rPr>
              <a:t>03  알고리즘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394960" cy="4663440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4114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7"/>
              </a:spcAft>
            </a:pPr>
            <a:r>
              <a:rPr sz="1500" b="1">
                <a:solidFill>
                  <a:srgbClr val="FFFFFF"/>
                </a:solidFill>
              </a:rPr>
              <a:t>① Custom RANSAC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목적: 아웃라이어(벽/박스)를 제거하고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    바닥 포인트만 골라내기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1">
                <a:solidFill>
                  <a:srgbClr val="FFD700"/>
                </a:solidFill>
              </a:rPr>
              <a:t>알고리즘 (500회 반복):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1">
                <a:solidFill>
                  <a:srgbClr val="D0D8E8"/>
                </a:solidFill>
              </a:rPr>
              <a:t>  STEP 1.  3개 포인트 랜덤 선택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1">
                <a:solidFill>
                  <a:srgbClr val="D0D8E8"/>
                </a:solidFill>
              </a:rPr>
              <a:t>  STEP 2.  외적(cross product)으로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         법선벡터 → 평면 방정식 결정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         n = (p2-p1) × (p3-p1)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1">
                <a:solidFill>
                  <a:srgbClr val="D0D8E8"/>
                </a:solidFill>
              </a:rPr>
              <a:t>  STEP 3.  나머지 전체 포인트에서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         평면까지 거리 &lt; 5cm인 것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         → 인라이어로 분류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1">
                <a:solidFill>
                  <a:srgbClr val="D0D8E8"/>
                </a:solidFill>
              </a:rPr>
              <a:t>  STEP 4.  인라이어 수 최대인 평면 보존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1">
                <a:solidFill>
                  <a:srgbClr val="00B450"/>
                </a:solidFill>
              </a:rPr>
              <a:t>최종 출력: 최적 평면 + 인라이어 집합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32004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93"/>
              </a:spcAft>
            </a:pPr>
            <a:r>
              <a:rPr sz="2800" b="1">
                <a:solidFill>
                  <a:srgbClr val="0F3C96"/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143000"/>
            <a:ext cx="5303520" cy="4663440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143000"/>
            <a:ext cx="5303520" cy="411480"/>
          </a:xfrm>
          <a:prstGeom prst="rect">
            <a:avLst/>
          </a:prstGeom>
          <a:solidFill>
            <a:srgbClr val="7A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7"/>
              </a:spcAft>
            </a:pPr>
            <a:r>
              <a:rPr sz="1500" b="1">
                <a:solidFill>
                  <a:srgbClr val="FFFFFF"/>
                </a:solidFill>
              </a:rPr>
              <a:t>② RANSAC + Least Squares (LS)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664208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목적: RANSAC 인라이어 전체를 이용해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    평면을 더 정밀하게 다듬기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1">
                <a:solidFill>
                  <a:srgbClr val="FFD700"/>
                </a:solidFill>
              </a:rPr>
              <a:t>알고리즘: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1">
                <a:solidFill>
                  <a:srgbClr val="D0D8E8"/>
                </a:solidFill>
              </a:rPr>
              <a:t>  INPUT: RANSAC 인라이어 포인트들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1">
                <a:solidFill>
                  <a:srgbClr val="D0D8E8"/>
                </a:solidFill>
              </a:rPr>
              <a:t>  설계행렬 A 구성: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⎡1  x₁  y₁⎤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⎢1  x₂  y₂⎥  (n×3 행렬)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⎣...       ⎦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1">
                <a:solidFill>
                  <a:srgbClr val="D0D8E8"/>
                </a:solidFill>
              </a:rPr>
              <a:t>  정규방정식 풀기: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(AᵀA) c = Aᵀz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→ np.linalg.solve(AᵀA, Aᵀz)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1">
                <a:solidFill>
                  <a:srgbClr val="FF6B35"/>
                </a:solidFill>
              </a:rPr>
              <a:t>  OUTPUT: [a₀, a₁, a₂]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→ z = a₀ + a₁x + a₂y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897880"/>
            <a:ext cx="11430000" cy="804672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6"/>
              </a:spcAft>
            </a:pPr>
            <a:r>
              <a:rPr sz="1400" b="1">
                <a:solidFill>
                  <a:srgbClr val="FFFFFF"/>
                </a:solidFill>
              </a:rPr>
              <a:t>RANSAC → 아웃라이어 제거 (강건성)     +     LS → 전체 인라이어 활용 (정밀도)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IR: 동일 수준  /  RMSE: 40% 감소  /  Angle Error: 75% 감소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93"/>
              </a:spcAft>
            </a:pPr>
            <a:r>
              <a:rPr sz="2800" b="1">
                <a:solidFill>
                  <a:srgbClr val="FFFFFF"/>
                </a:solidFill>
              </a:rPr>
              <a:t>04  실험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7"/>
              </a:spcAft>
            </a:pPr>
            <a:r>
              <a:rPr sz="1500" b="1">
                <a:solidFill>
                  <a:srgbClr val="FFD700"/>
                </a:solidFill>
              </a:rPr>
              <a:t>시뮬레이션 환경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플랫폼     Gazebo Classic 11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ROS 버전  ROS2 Humble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LiDAR     Livox Mid-360 (시뮬)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토픽       /mid360_PointCloud2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57"/>
              </a:spcAft>
            </a:pPr>
            <a:r>
              <a:rPr sz="1500" b="0">
                <a:solidFill>
                  <a:srgbClr val="FFD700"/>
                </a:solidFill>
              </a:rPr>
              <a:t>월드 구성  (50m × 50m)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✅  수평 바닥 (탐지 대상, z = 0)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❌  외벽 4개 (높이 4m)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❌  L자 벽 구조물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❌  박스 2개 + 원기둥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❌  경사판 (pitch 15°)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57"/>
              </a:spcAft>
            </a:pPr>
            <a:r>
              <a:rPr sz="1500" b="0">
                <a:solidFill>
                  <a:srgbClr val="FFD700"/>
                </a:solidFill>
              </a:rPr>
              <a:t>알고리즘 파라미터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RANSAC 반복 횟수   500회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인라이어 임계값    5 cm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188720"/>
            <a:ext cx="6035040" cy="5303520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7"/>
              </a:spcAft>
            </a:pPr>
            <a:r>
              <a:rPr sz="1500" b="1">
                <a:solidFill>
                  <a:srgbClr val="FFD700"/>
                </a:solidFill>
              </a:rPr>
              <a:t>실제 측정 데이터 (1 프레임)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총 포인트 수         9,438 개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바닥 인라이어        4,743 개  (50.3%)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아웃라이어           4,695 개  (49.7%)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57"/>
              </a:spcAft>
            </a:pPr>
            <a:r>
              <a:rPr sz="1500" b="0">
                <a:solidFill>
                  <a:srgbClr val="FFD700"/>
                </a:solidFill>
              </a:rPr>
              <a:t>30프레임 평균 측정 결과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              Custom     RANSAC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             RANSAC        + LS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IR          0.505±0.006   0.503±0.006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RMSE    1.09±0.25 cm   0.65±0.05 cm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Angle   0.095±0.016°   0.024±0.009°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RMSE 개선:   40%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  Angle 개선:  75%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93"/>
              </a:spcAft>
            </a:pPr>
            <a:r>
              <a:rPr sz="2800" b="1">
                <a:solidFill>
                  <a:srgbClr val="FFFFFF"/>
                </a:solidFill>
              </a:rPr>
              <a:t>05  시연 및 결과</a:t>
            </a:r>
          </a:p>
        </p:txBody>
      </p:sp>
      <p:pic>
        <p:nvPicPr>
          <p:cNvPr id="4" name="Picture 3" descr="fig_l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5"/>
              </a:spcAft>
            </a:pPr>
            <a:r>
              <a:rPr sz="1200" b="0">
                <a:solidFill>
                  <a:srgbClr val="D0D8E8"/>
                </a:solidFill>
              </a:rPr>
              <a:t>초록 = 바닥 인라이어 (4,743pts)     빨강 = 아웃라이어 (4,695pts)     파란선 = RANSAC 평면     주황선 = RANSAC+LS 평면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93"/>
              </a:spcAft>
            </a:pPr>
            <a:r>
              <a:rPr sz="2800" b="1">
                <a:solidFill>
                  <a:srgbClr val="FFFFFF"/>
                </a:solidFill>
              </a:rPr>
              <a:t>05  결과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1">
                <a:solidFill>
                  <a:srgbClr val="FFFFFF"/>
                </a:solidFill>
              </a:rPr>
              <a:t>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1">
                <a:solidFill>
                  <a:srgbClr val="FFFFFF"/>
                </a:solidFill>
              </a:rPr>
              <a:t>Custom RANSAC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1">
                <a:solidFill>
                  <a:srgbClr val="FFFFFF"/>
                </a:solidFill>
              </a:rPr>
              <a:t>RANSAC + 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1">
                <a:solidFill>
                  <a:srgbClr val="FFFFFF"/>
                </a:solidFill>
              </a:rPr>
              <a:t>개선율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10512"/>
            <a:ext cx="10058400" cy="658368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751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Inlier Ratio (IR)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751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0.505 ± 0.006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751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0.503 ± 0.006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9751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0">
                <a:solidFill>
                  <a:srgbClr val="D0D8E8"/>
                </a:solidFill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496312"/>
            <a:ext cx="10058400" cy="658368"/>
          </a:xfrm>
          <a:prstGeom prst="rect">
            <a:avLst/>
          </a:prstGeom>
          <a:solidFill>
            <a:srgbClr val="0D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609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6609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1.09 ± 0.25 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6609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0">
                <a:solidFill>
                  <a:srgbClr val="00B450"/>
                </a:solidFill>
              </a:rPr>
              <a:t>0.65 ± 0.05 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6609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0">
                <a:solidFill>
                  <a:srgbClr val="00B450"/>
                </a:solidFill>
              </a:rPr>
              <a:t>↓ 40%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182112"/>
            <a:ext cx="10058400" cy="658368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3467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Angle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3467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0">
                <a:solidFill>
                  <a:srgbClr val="FFFFFF"/>
                </a:solidFill>
              </a:rPr>
              <a:t>0.095 ± 0.016°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3467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0">
                <a:solidFill>
                  <a:srgbClr val="00B450"/>
                </a:solidFill>
              </a:rPr>
              <a:t>0.024 ± 0.009°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3467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6"/>
              </a:spcAft>
            </a:pPr>
            <a:r>
              <a:rPr sz="1400" b="0">
                <a:solidFill>
                  <a:srgbClr val="00B450"/>
                </a:solidFill>
              </a:rPr>
              <a:t>↓ 75%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913632"/>
            <a:ext cx="10058400" cy="2377440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069080"/>
            <a:ext cx="9692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7"/>
              </a:spcAft>
            </a:pPr>
            <a:r>
              <a:rPr sz="1500" b="1">
                <a:solidFill>
                  <a:srgbClr val="FFD700"/>
                </a:solidFill>
              </a:rPr>
              <a:t>해석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• IR이 두 방법에서 동일  →  RANSAC이 아웃라이어 제거 성능을 결정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LS는 이미 골라진 인라이어를 더 정밀하게 맞추는 역할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• RMSE 40% 감소 + 표준편차도 0.25 → 0.05 cm로 감소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LS가 인라이어 전체 평균을 사용하므로 프레임마다 안정적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FFFFFF"/>
                </a:solidFill>
              </a:rPr>
              <a:t>• Angle Error 75% 감소  →  수업 정규방정식의 3D 확장이 실제로 유효함을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93"/>
              </a:spcAft>
            </a:pPr>
            <a:r>
              <a:rPr sz="2800" b="1">
                <a:solidFill>
                  <a:srgbClr val="FFFFFF"/>
                </a:solidFill>
              </a:rPr>
              <a:t>06  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09728" cy="50292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8"/>
              </a:spcAft>
            </a:pPr>
            <a:r>
              <a:rPr sz="1700" b="1">
                <a:solidFill>
                  <a:srgbClr val="FFD700"/>
                </a:solidFill>
              </a:rPr>
              <a:t>수업 내용의 직접 확장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 수업에서 배운 1D 정규방정식을 변수 하나만 추가해 3D 평면 피팅에 그대로 적용했습니다.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 코드 6줄이 수업 슬라이드의 행렬식과 1:1 대응됩니다.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78"/>
              </a:spcAft>
            </a:pPr>
            <a:r>
              <a:rPr sz="1700" b="1">
                <a:solidFill>
                  <a:srgbClr val="FFD700"/>
                </a:solidFill>
              </a:rPr>
              <a:t>아웃라이어 50% 환경에서도 탐지 성공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 전체 포인트의 절반이 벽/장애물인 어려운 환경에서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 RANSAC + LS 조합으로 각도 오차 0.024°를 달성했습니다.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78"/>
              </a:spcAft>
            </a:pPr>
            <a:r>
              <a:rPr sz="1700" b="1">
                <a:solidFill>
                  <a:srgbClr val="FFD700"/>
                </a:solidFill>
              </a:rPr>
              <a:t>LS 추가로 정밀도 향상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 RANSAC 단독 대비 RMSE 40%, 각도 오차 75% 감소.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 표준편차도 함께 감소 → 프레임마다 일관된 결과.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78"/>
              </a:spcAft>
            </a:pPr>
            <a:r>
              <a:rPr sz="1700" b="1">
                <a:solidFill>
                  <a:srgbClr val="FFD700"/>
                </a:solidFill>
              </a:rPr>
              <a:t>실제 응용</a:t>
            </a:r>
          </a:p>
          <a:p>
            <a:pPr algn="l">
              <a:spcAft>
                <a:spcPts val="52"/>
              </a:spcAft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 드론 착륙 지점 탐지, 자율주행 차량 지면 인식 등</a:t>
            </a:r>
          </a:p>
          <a:p>
            <a:pPr algn="l">
              <a:spcAft>
                <a:spcPts val="136"/>
              </a:spcAft>
            </a:pPr>
            <a:r>
              <a:rPr sz="1300" b="0">
                <a:solidFill>
                  <a:srgbClr val="D0D8E8"/>
                </a:solidFill>
              </a:rPr>
              <a:t>    아웃라이어가 많은 실제 환경에서도 적용 가능한 방법입니다.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7"/>
              </a:spcAft>
            </a:pPr>
            <a:r>
              <a:rPr sz="1600" b="1">
                <a:solidFill>
                  <a:srgbClr val="FFFFFF"/>
                </a:solidFill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